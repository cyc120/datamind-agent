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74519"/>
            <a:ext cx="12191695" cy="45720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DataMind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多模态数据驱动的可解释精准问数问答智能体</a:t>
            </a:r>
          </a:p>
          <a:p>
            <a:r>
              <a:rPr sz="1500" b="1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答辩演示　·　版本化的跨源证据绑定 + 可控修复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基线提交 e4e2ebf　·　API 0.39.0　·　隔离回归 1297/1297（失败 0）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本演示不出现任何单位名与人名；每页数字均可回溯到仓库内报告文件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演示口径：能做的说分子分母，不能做的写「无法判定」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问题：跨源问数最危险的失败不是「查不到」，而是「绑错了还自信」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定位声明：把「实体 / 版本 / 单位 / 时间口径」的绑定从隐式假设升级为一等公民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对应官方：决赛 多源异构融合（10 分） · 可解释性（5 分） · 中级任务质量（10 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库里查到数、文档里查到句，拼在一起看似有据——但对象/版本/单位/口径任一处绑错，答案就是错的。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错误绑定往往伴随高置信度输出：系统越流畅，越难被评委与用户察觉。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现有工程的常见做法是「先回答再解释」，事后解释无法回滚已经绑错的结论。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本项目选择反向设计：优先构建证据图与绑定字段，再决定能不能给出结论；不能判定就同时展示双方证据。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无法消解 → 标记待裁决；未登记来源权威 → 绝不自动单选一个来源。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这条路同时喂饱三项官方要求：多源融合、可解释性、中级任务质量（因为有可对照的度量）。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14 + 12 + 4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已冻结评测用例（nl2sql / rag / robustness，只读 SQL 实测）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0455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169 / 23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切片 / 候选事实（知识库运行态）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2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42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1456 / 1359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证据图节点 / 边（已存在，缺绑定列）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系统架构：四件套 + 独立 worker + 直连上游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FastAPI · 原生 JS 前端 · PostgreSQL 元数据库 · Qdrant 向量库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证据：datamind/api.py（version=0.39.0，/openapi.json paths=75）、web/、db/migrations/001–018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3566160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10735056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浏览器 web/  ──HTTP/SSE──►  FastAPI datamind/api.py  ──►  PostgreSQL datamind_meta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                │                        └ 18 个迁移 001–018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                ├──►  Qdrant 6333  datamind_knowledge（169 点）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                ├──►  上游模型 api.deepseek.com/v1（deepseek-flash，直连无网关）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                └──►  独立 worker：上传解析 / PDF 索引 / 公式(.venv-formula)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解析层：统一解析契约（parse_status 五态 + 七类 SourceLocator + 块/关系约束）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适配器登记与媒体签名路由；未登记类型 PARSE_ADAPTER_UNKNOWN 明确拒绝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440680"/>
            <a:ext cx="3596640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5532120"/>
            <a:ext cx="334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75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REST/SSE 路径（/openapi.json 实测）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2439" y="5440680"/>
            <a:ext cx="3596640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0455" y="5532120"/>
            <a:ext cx="334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27 / 2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已索引 / 已解析未索引文档（只读 SQL）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239" y="5440680"/>
            <a:ext cx="3596640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4256" y="5532120"/>
            <a:ext cx="33406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1297/1297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隔离回归（失败 0，源库未修改）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NL2SQL：先受控，再执行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问题帧 → 召回 → 生成 → AST 门禁 → 只读执行 → 最多一次修复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证据：datamind/sql_engine.py、catalog.py、sql_guard.py；reports/nl2sql.json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3566160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10735056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① query_frame   实体/指标/时间/范围；缺项 → NEEDS_CLARIFICATION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② Catalog       词法 + 中文别名(approved) + 枚举 + Join Graph，Top-8 候选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③ 模型生成      schema 快照 + 业务指标注册表口径进提示词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④ sql_guard     sqlglot AST：按 scope 解析列权限 / 顶层投影必须是批准指标 / 禁 OR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参数绑定用「文本序哨兵」避免占位符与值错配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⑤ 只读执行      无写入路径；失败分类 → 受控修复（上限 1 次）→ sql + rows + 证据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266319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5349240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14/14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零售套题（自建，非官方集）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8990" y="5257800"/>
            <a:ext cx="266319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7006" y="5349240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31/31 · 28/28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Schema 表召回 / 语义锚点列召回（Top-5）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9340" y="5257800"/>
            <a:ext cx="266319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5" y="5349240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4/4 · 6/6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指标召回 / 连接路径正确（18 条自建题）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9690" y="5257800"/>
            <a:ext cx="266319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7706" y="5349240"/>
            <a:ext cx="240715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4/4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鲁棒性套题（错别字/口语/越权/空结果）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受控查询的失败边界（真实反例与处置）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来自独立复查：这些反例曾全部「判通过」，现在是硬门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证据：PROGRESS.md 阶段流水（第 1、2 批）、docs/AUDIT_FIXES.md、reports/audit_fix_verification.json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CTE 同名绕过：带 schema 的真实表与某 CTE 同名 → 被当作 CTE 跳过列检查 → 现按作用域来源对象判定。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指标篡改四连：正确 SUM 再乘 0 / 加常量 / 把 SUM 挪进无关子查询而外层投影 1 / WHERE 追加 OR TRUE → 四种变体曾全部通过，现已封堵。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时间条件造假：时间谓词必须出现在主查询 WHERE 中且区间两侧都在。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参数错配：sqlglot 遍历顺序不等于文本顺序 → 改为文本序哨兵映射。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连接粒度：按 catalog 外键方向判 METRIC_JOIN_GRAIN_RISK，防止指标被 JOIN 放大。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边界：口径强制的覆盖面仍窄（仅销售额别名族）——复合指标按「无法独立校验」记录而不阻断，如实保留。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RAG：只允许用本次候选证据回答，不满足就拒答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混合检索（向量 + 词法 RRF）→ 生成 → 连续片段/数字校验 → 拒答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证据：datamind/knowledge.py、rag_engine.py；reports/rag.json、reports/rag_fields.json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生成答案的每个数字必须出自引用片段或标题；引用必须逐字命中原文连续片段。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未知 chunk 拒绝；最多一次修复；生成后重查证据身份，变化则 409。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显式多文档：1–8 份无重复公开文件，每份必须有相关片段，否则阻断。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0 切片文档：前端不出勾选框；服务端拒绝 DOCUMENT_SELECTION_NOT_SEARCHABLE；证据漂移则如实报 MULTIFILE_EVIDENCE_INCOMPLETE（两者语义刻意分开）。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缺口：无逐结论忠实度三态标注；公式图片无公式文本的题目按纪律拒答而不是猜。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10/12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RAG 套题通过（1 例上游错误、1 例缺表头/公式拒答）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0455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1.0 / 0.9545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recall@5 / MRR@10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2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42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5/9 · 3/15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扫描件表头 / 字段（缺口如实保留）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多源融合：工业「原文 + 生产 SQL」逐测量核验已跑通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冲突时保留双方原值；未登记权威时不选来源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证据：datamind/industrial_rules.py；reports/industrial_rules.json（合成集，model_used=false）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3566160"/>
          </a:xfrm>
          <a:prstGeom prst="rect">
            <a:avLst/>
          </a:prstGeom>
          <a:solidFill>
            <a:srgbClr val="F7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10735056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工艺/质检原文 ──► 阈值 + 适用范围（单位 / 版本 / 条款页）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生产 SQL(只读) ──► 逐测量值 ──► 绑定(对象/版本/单位/时间口径)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   ┌─────────────┼─────────────┐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超限判定      冲突判定       需人工复核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223344"/>
                </a:solidFill>
                <a:latin typeface="Menlo"/>
                <a:ea typeface="PingFang SC"/>
                <a:cs typeface="Menlo"/>
              </a:rPr>
              <a:t>    out_of_range  保留双方原值   needs_review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359664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5349240"/>
            <a:ext cx="33406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13/13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冻结开发规则通过（合成集，不调用大模型）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2439" y="5257800"/>
            <a:ext cx="359664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0455" y="5349240"/>
            <a:ext cx="33406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model_used=false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纯规则核验，13 条用例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6239" y="5257800"/>
            <a:ext cx="3596640" cy="10515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4256" y="5349240"/>
            <a:ext cx="33406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1456 / 1359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证据图节点 / 边（缺绑定列与跨源边类型）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通用跨源当前是 fail-closed，这不是完成度而是纪律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命中 cross_source 后返回 ROUTE_UNSUPPORTED —— 宁可拒答，不给未绑定的结论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证据：datamind/agent.py route_for()；docs/SCORE_GAP_LEDGER.md F1 与 §5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route_for() 仅按关键词命中 cross_source，命中后直接返回 ROUTE_UNSUPPORTED。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原因：没有实体/版本/单位/口径绑定与裁决门时，猜测作答的风险高于拒答。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因此 F1 的「≥3 种结构不同的跨源问题」未达成；只能报已有工业链路的 13/13。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证据图现状：evidence_nodes=1456 / evidence_edges=1359 已存在，但缺 source_sha256/version/unit/time_scope 绑定列，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也缺 entity_match/version_scope/unit_equivalent/time_overlap/conflicts 等边类型 CHECK。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所以「证据图已建成完整版本」这句话在本轮不可主张——只能说「基础证据图已存在」。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单一贡献：版本化的跨源证据绑定 + 可控修复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不是新模型，而是一个新的度量与机制：先绑定，再核验，最后才允许作答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自述全文见 交付/04_突破与创新性自述.pdf（≤5 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证据图：数据行 / 文档块 / 测量 / 规范条款是节点；实体同一性、版本适用、单位等价、时间口径、数值支持、数值冲突是边。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每条形如「对象 + 版本 + 单位 + 时间口径 + 来源 sha256」的绑定是答案的必填字段，不是事后解释。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受控修复：只修绑定错误，每次修复记账；超过上限即停，冲突留作未消解。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可复现度量：绑定准确率、错误绑定率（标志性指标）、冲突检出率/误报率、误修复率、修复成本。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对照消融：plain / bind_only / full 三臂在同一冻结集同一环境比较。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诚实边界：若 plain 臂也很强，本项只能申报「实用创新与转化价值」，不申报技术突破领先性。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创新举证：机制消融的现有数字（并标明它不能证明什么）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reports/vcar_ablation.json：16 例冻结集、四臂对照、标签先冻结后评测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报告自注：「合成机制消融，不调用任何模型；不是 OCR/问答准确率」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臂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正确/例数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准确率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误修复率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冲突检出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未消解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ocr_text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3/16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0.1875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N/A（未改写）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0/4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structured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0.6875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local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11/16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0.6875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0.1429（2 例）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4/4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16/16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4/4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2（保留双方证据）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边界一：这是机制替身，不是模型精度，也不是视觉识别成绩。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边界二：不得据此主张业界领先；无与公开最优方案的对比实验。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中级任务：先如实标状态，再谈数量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B3 / B4 为「已实现（限定）」；B1/B2/B5/B6/B7/B9「部分」；B8「未实现」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证据：docs/OFFICIAL_REQUIREMENTS_MAPPING.md §B；reports/schema_linking.json、industrial_nl2sql.json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官方难题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当前状态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可核验证据 / 缺口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B3 语义校验与澄清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已实现（限定）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clarify() + NEEDS_CLARIFICATION；工业模型前澄清 2/2；无不必要澄清率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B4 Schema Linking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已实现（限定）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表 31/31、列 28/28、指标 4/4、路径 6/6（18 条自建题）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B2 可扩展要素提取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部分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领域知识在数据库注册表，不靠提示词；无新增领域成本实测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B5 多表 JOIN/聚合/嵌套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语义门禁与粒度风险判定；样本小、无公开基准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B6 公式识别与计算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部分（仅识别）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ONNX 识别 + LaTeX 校验；无求值引擎（6b 未实现）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B7 / B8 / B9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部分 / 未实现 / 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目录恢复无专项集；复杂度评估未实现；质量校正与告警未做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可解释性：答案即证据链，且可视化不猜测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SQL / 引用片段 / 原文定位 / 事件回放 / 契约关系，五类证据都有出口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证据：web/app.js、GET /v1/runs/{id}、/evidence、/events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答案载荷携带 SQL、绑定参数、rows、citations（含 locators 与 relations）。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前端引用卡片显示定位徽标；未旋转的 PDF 区域可展开原页高亮。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旋转页与非页面定位（office_object / cad_entity / sheet_range）只显示标签，绝不猜测绘制。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不从页码推导区域；定位查询失败不阻断回答，错误码独立记录。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边界：关系不参与排序/打分/重排/冲突消解；界面需浏览器刷新；本轮未做界面视觉验收。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不变量：不传历史时逐字节不变、不选跨源时不改提示词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新能力不得改变既有行为——这是可以机器核对的纪律，不是口号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证据：docs/MULTI_TURN.md、tests/test_multi_turn.py 33 项、PROGRESS.md 阶段流水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history 契约：≤20 条、单条 ≤2000 字符、合计 ≤8000；超限拒绝而非截断。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历史以 trust="untrusted" 边界区块送入模型，并附防注入声明。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不传 history 时提示词与结果逐字节不变（三种独立证明：sha256 常量复算、用 git show HEAD: 并排对照、API 调用面精确断言）。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实测：把 DROP TABLE orders 放进历史后，执行的 SQL 与参数完全不变。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turns_used 如实返回；默认清空工作区时修好的前端缓存版本也同步提升，避免旧脚本回访。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边界：「连续 5 轮以上准确」尚未评测；前端未接入 history；无服务端会话。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效率与伸缩性：有实测规模点，缺分析与优化对照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reports/scale_v1.json：CAD 4 档 + 文档选择 4 档，每档 3 次，独立子进程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机器：Apple M5 Pro，15 核，Python 3.14.5，内存 25,769,803,776 字节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792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路径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规模点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中位耗时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峰值 RSS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状态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CAD 解析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100 / 1000 / 5000 / 20000 实体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251.1 / 283.3 / 445.2 / 897.9 ms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191.7 / 199.1 / 237.5 / 366.8 MB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后两档 partial（blocks 上限 2000）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文档选择读取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 / 2 / 5 / 8 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102.9 / 106.2 / 106.9 / 107.3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60.7 / 61.0 / 61.4 / 61.6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实际读取 9 / 14 / 34 / 44 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报告自带 4 条免责：单机单进程 / 无 CPU 绑定或 cgroup / 无并发负载 / 非生产吞吐承诺。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缺口：无时间复杂度理论分析、无瓶颈定位、无优化前后对照、无并发矩阵、无 SQL 侧多规模（1千/1万/10万行）。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CAD 后两档是「受限输出路径测量」，不得当作完整解析 2 万实体的证明。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评测口径：拒答、超时、上游错误单列，但不移出分母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零分母一律 N/A；正向与反向对照同时写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证据：reports/cards/wp1a_registry.md、docs/SCORE_GAP_LEDGER.md §0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题面入仓并 append-only 冻结：data/evaluation/registry/{nl2sql,rag,robustness}_v1.json。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check 实测 3/3 suite 登记与库内题面一致（exit 0）；重复冻结被拒绝（exit 2）；篡改副本被检出（exit 1）。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统一报告 schema 检查：三份历史报告 0/3 符合（57 + 49 + 17 = 123 项问题）——如实结果，不伪修。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RAG 10/12 的两例失败留在报告里：1 例上游错误、1 例缺表头/公式拒答。</a:t>
            </a:r>
          </a:p>
          <a:p>
            <a:pPr lvl="1">
              <a:lnSpc>
                <a:spcPct val="106000"/>
              </a:lnSpc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– 官方测试集未提供 → E1/E2/E5/E6/F4/F5 的官方准确率档一律「无法判定」。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鲁棒性与低质量数据：把失败边界变成数字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扫描件、表头、公式、旋转页——每一处缺口都保留在报告里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证据：reports/robustness.json、header_initial.json、document_fields.json、formula_initial.json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robustness 套题 4/4：错别字、口语简称、越权拒答、空结果各 1 条（规模远小于计划要求的 ≥10 条）。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扫描件表头 5/9、字段 3/15：缺口如实保留，不用「部分成功」遮掩。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公式图片没有公式文本时，按纪律拒答而不是猜测（rag-006 保留为失败样本）。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页面旋转、区域越界、重复句柄等情况一律拒绝或声明，绝不伪造身份（CAD 位置身份模式无 handle 键）。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权限矩阵、任务隔离、失败状态与格式兼容较完善；模糊/低质量真实输入覆盖仍少。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交付清单：本次真实生成的六件套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全部由仓库 .venv/bin/python 脚本产出；页数为实测值，不是估算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机读清单见 交付/DELIVERY_MANIFEST.json；官方提交物状态见 docs/DELIVERY_CHECKLIST.md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文件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类型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页/幻灯片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结构检查</a:t>
                      </a:r>
                    </a:p>
                  </a:txBody>
                  <a:tcPr>
                    <a:solidFill>
                      <a:srgbClr val="1F3D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交付/01_设计报告_DataMind_Agent.docx + .pdf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设计报告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13 页 / 13 页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check_office.py 通过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交付/02_技术实现说明书_DataMind_Agent.docx + 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技术说明书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12 页 / 12 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check_office.py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交付/03_答辩演示.pptx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答辩 PPT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20 张（限 20）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check_office.py 通过 + 匿名检查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交付/04_突破与创新性自述.pdf（+ DOCX 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加分自述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见实测（限 5 页）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check_office.py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docs/DELIVERY_CHECKLIST.md + DELIVERY_MANIFEST.json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核对清单 / 机读清单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—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F6B"/>
                          </a:solidFill>
                          <a:latin typeface="Helvetica Neue"/>
                          <a:ea typeface="PingFang SC"/>
                          <a:cs typeface="Helvetica Neue"/>
                        </a:rPr>
                        <a:t>JSON 可解析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本轮明确不打 ZIP：只交付打包脚本 scripts/build_delivery_zip.py 的 dry-run 清单（避免把 .venv、.cache 打进包）。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演示流程：8 步，每步都有可见证据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建议现场节奏 8–10 分钟；每步失败时如何如实说明已预先写好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对应官方：交互 Demo 可用性、线上功能演示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1｜打开问数页面，问一个单表问题 → 展示生成的 SQL 与返回行。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2｜问一个 JOIN/聚合问题 → 展示 SQL 门禁放行与连接路径。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3｜故意问一个缺时间的题 → 展示 NEEDS_CLARIFICATION 与缺项字段。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4｜问一个文档问题 → 展示引用片段、页码定位与区域高亮。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5｜选中 2–3 份文档提问 → 展示逐文件覆盖要求与证据不完整时的拒绝。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6｜问一个工业跨源题 → 展示单位/版本核验与冲突双方原值。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7｜打开运行回放 → 展示事件流与证据集合。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8｜上传一份新文件 → 展示解析契约与「尚未建立问答索引（暂不可问答）」的如实提示。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失败边界页：现场可能出问题的地方，以及我们怎么回答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不隐藏、不临场改口径；每一条都对应仓库里的真实限制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证据：docs/SCORE_GAP_LEDGER.md §5、docs/DEPLOYMENT_BOUNDARIES.md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上游模型超时/限流 → 如实报上游错误并单列，不把它从分母里去掉，也不重试到刷出好看数字。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问通用跨源问题 → 系统会返回 ROUTE_UNSUPPORTED；我们说明这是刻意的 fail-closed，而不是「已完成」。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问多模态识别准确率 → 上游仅文本模型、无本地视觉权重，明确回答不主张领先。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问官方测试集成绩 → 官方测试集未提供，只能给自建冻结集分子/分母与失败清单。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问干净环境能否一键启动 → 本轮未做空库演练（禁止重建容器/库），只能说启动脚本已就绪、未在本轮验证。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2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问 PDF 版式是否逐页看过 → 已做结构检查，未做逐页视觉检查，如实说明。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18288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一句话总结：把「能答」变成「敢答、答得可查、不能答就说不知道」</a:t>
            </a:r>
          </a:p>
          <a:p>
            <a:r>
              <a:rPr sz="1050" b="0">
                <a:solidFill>
                  <a:srgbClr val="C0502A"/>
                </a:solidFill>
                <a:latin typeface="Helvetica Neue"/>
                <a:ea typeface="PingFang SC"/>
                <a:cs typeface="Helvetica Neue"/>
              </a:rPr>
              <a:t>工程机制 → 可复现证据 → 成套交付材料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下一步优先级：跨源证据绑定与三种结构冻结集 → 对照消融 → 澄清闭环 → 效率证明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已有：可解释链路、受控查询、版本与权限、解析缺口如实声明、1297/1297 隔离回归。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已交付：设计报告 / 技术说明书 / 答辩 PPT / 创新自述 / 官方核对清单 / 机读清单（本次全部真实生成）。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待做：通用跨源引擎与绑定列、≥3 项可申报的中级任务、效率的复杂度与优化对照、决赛 ≤50 页深化稿与 ZIP。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5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▍ 纪律不变：分子分母同给；拒答/超时/上游错误单列但不移出分母；无证据写「无法判定」，不写「领先」。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1297/1297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隔离回归（当前唯一权威分母）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24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0455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6 件套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本次真实生成的交付物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6239" y="5074920"/>
            <a:ext cx="3596640" cy="11887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4256" y="5166359"/>
            <a:ext cx="3340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0</a:t>
            </a:r>
          </a:p>
          <a:p>
            <a:r>
              <a:rPr sz="950" b="0">
                <a:solidFill>
                  <a:srgbClr val="555F6B"/>
                </a:solidFill>
                <a:latin typeface="Helvetica Neue"/>
                <a:ea typeface="PingFang SC"/>
                <a:cs typeface="Helvetica Neue"/>
              </a:rPr>
              <a:t>本轮新增的官方得分声明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99999"/>
                </a:solidFill>
                <a:latin typeface="Helvetica Neue"/>
                <a:ea typeface="PingFang SC"/>
                <a:cs typeface="Helvetica Neue"/>
              </a:rPr>
              <a:t>DataMind Agent　·　答辩演示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F3D7A"/>
                </a:solidFill>
                <a:latin typeface="Helvetica Neue"/>
                <a:ea typeface="PingFang SC"/>
                <a:cs typeface="Helvetica Neue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